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sldIdLst>
    <p:sldId id="256" r:id="rId7"/>
    <p:sldId id="261" r:id="rId8"/>
    <p:sldId id="262" r:id="rId9"/>
    <p:sldId id="257" r:id="rId10"/>
    <p:sldId id="258" r:id="rId11"/>
    <p:sldId id="259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A9B857-6F3F-468D-A562-1791DC68ABDD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919ECFC-FC53-49BD-B92C-2190D5490DF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06FF675-DD13-42B9-A713-0CC887FAAD73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F32F1D2-F1D5-4D19-81AC-8368FC54CF6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6510C5F-5EDB-458A-BDC2-5A29578637C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B7725DE-CE67-4E51-BA6E-9C98B41B59D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72EEF28-F1CA-463C-A299-4A08CC8E474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4E918EC-634F-4F64-A6A7-CF82F805C2D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4B7A98F-BCEF-4BE1-940F-E7CC1ACD0A7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0353032-A51F-4AC2-9603-EDF83751E82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799CA9F-187C-40AF-9AC9-CB63BEEDEFA0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8E5934-85A0-4625-9525-53681AB9E1C4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B1716B9-14FC-41E5-9790-2F4FC4DC19EF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C6D9E09-3AAC-4A95-8D35-6CB69ED0C35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4E5E39D-8C1B-42B2-9910-62378CEB32B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8CDC805-C452-42B9-8A97-2B8613346521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7886224-A2C2-46BC-B131-921736F01B2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9FAA56E-94F8-4452-A26A-1BB5EBE05AD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A5746EB-2635-47CC-AEDB-C43BB162CDF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D532273-E8A9-4FE3-94D7-2516AE9188E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76786D8-E1B7-44D7-9D3F-9D15E6DD4A43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D1ED707-B789-45BF-9E9E-9D8412918517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EC81DD6-B3DA-4068-B5E8-9C3394050C30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11D6103-335B-4D90-A6A1-7B84211345C8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3DA30946-CC22-49FD-8ED5-CF04EDA52479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6675BBE-23F2-420D-9476-F6EEE1A9538B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F260AA3C-84C8-4522-8DA4-2358ADA54642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1516532F-59F5-474A-A4F4-925739397D9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306FF1C7-D55A-495E-A7A4-203B7975E7B6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E9FB719-F97B-4B01-A1BB-A555FE5F11D0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C5A40F8C-95FC-4310-9417-F010A799532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4B79A32-788D-4089-8139-B0D7972D06C7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5E82146-E4F0-456A-9FCE-724511C0E67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8BBC63C-91BC-40BB-B978-465AD9402950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ABCD81B-B71F-4B53-9455-55CC61A29973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A4C4895-3394-4B79-B3FD-A3ECA2FD3D2E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838A0B4-2F7C-415A-AE5A-2ED01EF4C8E6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9F9EAED-67AD-488A-940D-D926B7545E5A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1022B14-008E-4D58-BE21-EEE8E565F29B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E90BC7F-FFF2-421B-A2C4-0127461F9FDA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009D949-B607-422F-9FFD-85C22C532367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76756E1-1508-4218-B445-C87FD90B65BB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F69355C-E38C-44A4-8F1C-3B749EF7DC8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6F1C66E-EBDC-4238-A0D0-247257F34BF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BD5A2D80-EC62-4C01-8F28-4443B56C71F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192CD849-0B16-4FBF-9EB7-B59194B83287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71ADD68-1D69-4575-ADA9-0E85346CB93B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994D41E-5523-477B-9D6A-7373011CEE44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AE916A1-FCC6-4BC1-BB95-D3B8247FEC04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8DDD8B4-19AB-4105-A3A9-B4B5D075B0B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2E3CB898-C915-4E0C-BA41-C3B23E12B7A4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57DF3709-C059-4BAA-A185-FA1641837CC2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A4110755-8A43-412E-AB11-36B58D197FEA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6D0BFC8-AC29-4769-910D-93FB7738F7D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BB54568-04F6-45CC-AF48-367CA2682742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131FEAF6-BED6-4963-9E48-71EFBA7BD0A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4C5F3AFB-51F2-4A29-B7F6-04EADAB5CA0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2CF90FC5-2E69-4223-AC0E-8EE917A8D218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F5AE6263-00E6-41EB-9469-492690A7BA52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F73D7A22-72E3-420A-A787-75FE0A3DC883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2183D437-916E-4BFF-B7A2-88BDAC86D16C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1DC28303-AE62-4E74-8BE0-438A8515376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25809171-CED0-45DB-AB23-AA9285693BEB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5C2D135-7D8C-4335-9E4E-CA59B1DE9704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35306BF4-E323-464B-A585-534A97E1F64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5826312-26B9-4231-843D-0C63A27144A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6D49CA7F-3498-4EB8-9686-51943E0A8662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F26F1828-20E0-4710-BBD9-7BB0244F203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D864222B-A9EC-4245-AF65-04BEED869906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33DC3B1C-1BD8-4220-B898-10ED3870570D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9D12FB28-CF8F-4201-AC58-293D0AA2780F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FCB8416C-9696-4E59-9D92-1C573C041B8F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6"/>
          <p:cNvGrpSpPr/>
          <p:nvPr/>
        </p:nvGrpSpPr>
        <p:grpSpPr>
          <a:xfrm>
            <a:off x="360" y="-8640"/>
            <a:ext cx="12191400" cy="6867000"/>
            <a:chOff x="360" y="-8640"/>
            <a:chExt cx="12191400" cy="6867000"/>
          </a:xfrm>
        </p:grpSpPr>
        <p:cxnSp>
          <p:nvCxnSpPr>
            <p:cNvPr id="17" name="Straight Connector 31"/>
            <p:cNvCxnSpPr/>
            <p:nvPr/>
          </p:nvCxnSpPr>
          <p:spPr>
            <a:xfrm>
              <a:off x="9371160" y="0"/>
              <a:ext cx="1219680" cy="6858720"/>
            </a:xfrm>
            <a:prstGeom prst="straightConnector1">
              <a:avLst/>
            </a:prstGeom>
            <a:ln w="9360" cap="rnd">
              <a:solidFill>
                <a:srgbClr val="BFBFBF"/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360" y="3681360"/>
              <a:ext cx="4764240" cy="3177360"/>
            </a:xfrm>
            <a:prstGeom prst="straightConnector1">
              <a:avLst/>
            </a:prstGeom>
            <a:ln w="9360" cap="rnd">
              <a:solidFill>
                <a:srgbClr val="D9D9D9"/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800 w 3007080"/>
                <a:gd name="textAreaTop" fmla="*/ 0 h 6866280"/>
                <a:gd name="textAreaBottom" fmla="*/ 686700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760 w 2588040"/>
                <a:gd name="textAreaTop" fmla="*/ 0 h 6866280"/>
                <a:gd name="textAreaBottom" fmla="*/ 686700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" name="Isosceles Triangle 26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30080 w 3259440"/>
                <a:gd name="textAreaRight" fmla="*/ 3260160 w 3259440"/>
                <a:gd name="textAreaTop" fmla="*/ 1905120 h 3809520"/>
                <a:gd name="textAreaBottom" fmla="*/ 3810240 h 3809520"/>
              </a:gdLst>
              <a:ahLst/>
              <a:cxnLst/>
              <a:rect l="textAreaLeft" t="textAreaTop" r="textAreaRight" b="textAreaBottom"/>
              <a:pathLst>
                <a:path w="21600" h="25245">
                  <a:moveTo>
                    <a:pt x="0" y="25245"/>
                  </a:moveTo>
                  <a:lnTo>
                    <a:pt x="21600" y="0"/>
                  </a:lnTo>
                  <a:lnTo>
                    <a:pt x="21600" y="25245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800 w 2854080"/>
                <a:gd name="textAreaTop" fmla="*/ 0 h 6866280"/>
                <a:gd name="textAreaBottom" fmla="*/ 686700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600 w 1289880"/>
                <a:gd name="textAreaTop" fmla="*/ 0 h 6866280"/>
                <a:gd name="textAreaBottom" fmla="*/ 686700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50280 w 1249560"/>
                <a:gd name="textAreaTop" fmla="*/ 0 h 6866280"/>
                <a:gd name="textAreaBottom" fmla="*/ 686700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" name="Isosceles Triangle 30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640 w 1816920"/>
                <a:gd name="textAreaTop" fmla="*/ 1634040 h 3267720"/>
                <a:gd name="textAreaBottom" fmla="*/ 3268440 h 3267720"/>
              </a:gdLst>
              <a:ahLst/>
              <a:cxnLst/>
              <a:rect l="textAreaLeft" t="textAreaTop" r="textAreaRight" b="textAreaBottom"/>
              <a:pathLst>
                <a:path w="21600" h="38841">
                  <a:moveTo>
                    <a:pt x="0" y="38841"/>
                  </a:moveTo>
                  <a:lnTo>
                    <a:pt x="21600" y="0"/>
                  </a:lnTo>
                  <a:lnTo>
                    <a:pt x="21600" y="38841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" name="Isosceles Triangle 18"/>
            <p:cNvSpPr/>
            <p:nvPr/>
          </p:nvSpPr>
          <p:spPr>
            <a:xfrm rot="10800000">
              <a:off x="360" y="360"/>
              <a:ext cx="842400" cy="5665680"/>
            </a:xfrm>
            <a:custGeom>
              <a:avLst/>
              <a:gdLst>
                <a:gd name="textAreaLeft" fmla="*/ 421560 w 842400"/>
                <a:gd name="textAreaRight" fmla="*/ 843120 w 842400"/>
                <a:gd name="textAreaTop" fmla="*/ 2833200 h 5665680"/>
                <a:gd name="textAreaBottom" fmla="*/ 5666400 h 5665680"/>
              </a:gdLst>
              <a:ahLst/>
              <a:cxnLst/>
              <a:rect l="textAreaLeft" t="textAreaTop" r="textAreaRight" b="textAreaBottom"/>
              <a:pathLst>
                <a:path w="21600" h="145168">
                  <a:moveTo>
                    <a:pt x="0" y="145168"/>
                  </a:moveTo>
                  <a:lnTo>
                    <a:pt x="21600" y="0"/>
                  </a:lnTo>
                  <a:lnTo>
                    <a:pt x="21600" y="145168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1" name="PlaceHolder 1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F00821-834E-4FED-9422-1C9DCD1A08B0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77160" y="4771440"/>
            <a:ext cx="8596440" cy="6249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77160" y="5367240"/>
            <a:ext cx="4194720" cy="3207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13000"/>
          </a:bodyPr>
          <a:lstStyle/>
          <a:p>
            <a:pPr marL="56160" indent="-4212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112320" lvl="1" indent="-4212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68480" lvl="2" indent="-3744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224640" lvl="3" indent="-280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80800" lvl="4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336960" lvl="5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93120" lvl="6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082480" y="5367240"/>
            <a:ext cx="4194720" cy="3207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13000"/>
          </a:bodyPr>
          <a:lstStyle/>
          <a:p>
            <a:pPr marL="56160" indent="-4212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112320" lvl="1" indent="-4212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68480" lvl="2" indent="-3744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224640" lvl="3" indent="-280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80800" lvl="4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336960" lvl="5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93120" lvl="6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77160" y="5719320"/>
            <a:ext cx="4194720" cy="3207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13000"/>
          </a:bodyPr>
          <a:lstStyle/>
          <a:p>
            <a:pPr marL="56160" indent="-4212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112320" lvl="1" indent="-4212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68480" lvl="2" indent="-3744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224640" lvl="3" indent="-280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80800" lvl="4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336960" lvl="5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93120" lvl="6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5082480" y="5719320"/>
            <a:ext cx="4194720" cy="3207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13000"/>
          </a:bodyPr>
          <a:lstStyle/>
          <a:p>
            <a:pPr marL="56160" indent="-4212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112320" lvl="1" indent="-4212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68480" lvl="2" indent="-3744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224640" lvl="3" indent="-280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80800" lvl="4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336960" lvl="5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93120" lvl="6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ftr" idx="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58" name="PlaceHolder 7"/>
          <p:cNvSpPr>
            <a:spLocks noGrp="1"/>
          </p:cNvSpPr>
          <p:nvPr>
            <p:ph type="sldNum" idx="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964AB43-37F8-46CA-B1B6-F18C1510F7F4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0C191B5-2940-4725-9152-C4362CD6A0F0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9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ftr" idx="1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sldNum" idx="1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9FF064-CF57-42A1-ADFF-3C2207E3AD29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1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ftr" idx="1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79" name="PlaceHolder 2"/>
          <p:cNvSpPr>
            <a:spLocks noGrp="1"/>
          </p:cNvSpPr>
          <p:nvPr>
            <p:ph type="sldNum" idx="1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09EAA77-11A9-4242-A0FD-42884A6FF4CB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dt" idx="1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18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ftr" idx="1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220" name="PlaceHolder 2"/>
          <p:cNvSpPr>
            <a:spLocks noGrp="1"/>
          </p:cNvSpPr>
          <p:nvPr>
            <p:ph type="sldNum" idx="1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C2FB03-C00A-414C-A3C0-6D7E08E8722A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dt" idx="1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22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2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396800" y="421560"/>
            <a:ext cx="7766640" cy="28944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 anchorCtr="1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2A5010"/>
                </a:solidFill>
                <a:latin typeface="Trebuchet MS"/>
                <a:ea typeface="Trebuchet MS"/>
              </a:rPr>
              <a:t>SISTEMA PARA CONTROLE DE DOAÇÃO DE SANGUE ANIMAL</a:t>
            </a:r>
            <a:endParaRPr lang="pt-BR" sz="5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subTitle"/>
          </p:nvPr>
        </p:nvSpPr>
        <p:spPr>
          <a:xfrm>
            <a:off x="1506960" y="4050720"/>
            <a:ext cx="7766640" cy="10965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70000" lnSpcReduction="2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pt-BR" sz="3200" b="0" strike="noStrike" spc="-1" dirty="0">
                <a:solidFill>
                  <a:srgbClr val="000000"/>
                </a:solidFill>
                <a:latin typeface="Arial"/>
              </a:rPr>
              <a:t>Alunos: </a:t>
            </a:r>
          </a:p>
          <a:p>
            <a:pPr indent="0">
              <a:lnSpc>
                <a:spcPct val="100000"/>
              </a:lnSpc>
              <a:buNone/>
            </a:pPr>
            <a:r>
              <a:rPr lang="pt-BR" sz="3200" b="0" strike="noStrike" spc="-1" dirty="0">
                <a:solidFill>
                  <a:srgbClr val="000000"/>
                </a:solidFill>
                <a:latin typeface="Arial"/>
              </a:rPr>
              <a:t>Francielle Luz da Silva</a:t>
            </a:r>
          </a:p>
          <a:p>
            <a:pPr indent="0">
              <a:lnSpc>
                <a:spcPct val="100000"/>
              </a:lnSpc>
              <a:buNone/>
            </a:pPr>
            <a:r>
              <a:rPr lang="pt-BR" sz="3200" b="0" strike="noStrike" spc="-1" dirty="0">
                <a:solidFill>
                  <a:srgbClr val="000000"/>
                </a:solidFill>
                <a:latin typeface="Arial"/>
              </a:rPr>
              <a:t>Herman Alves Gomes da Silva</a:t>
            </a:r>
          </a:p>
        </p:txBody>
      </p:sp>
      <p:pic>
        <p:nvPicPr>
          <p:cNvPr id="262" name="Imagem 4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801440" y="552564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7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Problema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8"/>
          <p:cNvSpPr txBox="1"/>
          <p:nvPr/>
        </p:nvSpPr>
        <p:spPr>
          <a:xfrm>
            <a:off x="539640" y="1894320"/>
            <a:ext cx="4183560" cy="333864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92500" lnSpcReduction="20000"/>
          </a:bodyPr>
          <a:lstStyle/>
          <a:p>
            <a:pPr marL="291600" indent="-29160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Inconfiabilidade das informações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91600" indent="-29160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Informações espalhadas em vários arquivos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91600" indent="-29160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Gerencia sem controle das informações e processo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91600">
              <a:lnSpc>
                <a:spcPct val="2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916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Imagem 7" descr="Uma imagem contendo placar, quarto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5217840" y="1637280"/>
            <a:ext cx="3835800" cy="3880440"/>
          </a:xfrm>
          <a:prstGeom prst="rect">
            <a:avLst/>
          </a:prstGeom>
          <a:ln w="0">
            <a:noFill/>
          </a:ln>
        </p:spPr>
      </p:pic>
      <p:pic>
        <p:nvPicPr>
          <p:cNvPr id="281" name="Imagem 8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64720" y="547992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9"/>
          <p:cNvSpPr txBox="1"/>
          <p:nvPr/>
        </p:nvSpPr>
        <p:spPr>
          <a:xfrm>
            <a:off x="456840" y="66492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Problema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10"/>
          <p:cNvSpPr txBox="1"/>
          <p:nvPr/>
        </p:nvSpPr>
        <p:spPr>
          <a:xfrm>
            <a:off x="511920" y="2142720"/>
            <a:ext cx="4973040" cy="265032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Não conseguem identificar o próximo doador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Não mantem os dados do animal e tutor atualizados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>
              <a:lnSpc>
                <a:spcPct val="2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4" name="Imagem 13" descr="Desenho de personagem de desenho animado&#10;&#10;Descrição gerada com alta confiança"/>
          <p:cNvPicPr/>
          <p:nvPr/>
        </p:nvPicPr>
        <p:blipFill>
          <a:blip r:embed="rId2"/>
          <a:stretch/>
        </p:blipFill>
        <p:spPr>
          <a:xfrm>
            <a:off x="5606320" y="1658520"/>
            <a:ext cx="3979399" cy="3801960"/>
          </a:xfrm>
          <a:prstGeom prst="rect">
            <a:avLst/>
          </a:prstGeom>
          <a:ln w="0">
            <a:noFill/>
          </a:ln>
        </p:spPr>
      </p:pic>
      <p:pic>
        <p:nvPicPr>
          <p:cNvPr id="285" name="Imagem 9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37360" y="558108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25"/>
          <p:cNvSpPr txBox="1"/>
          <p:nvPr/>
        </p:nvSpPr>
        <p:spPr>
          <a:xfrm>
            <a:off x="677880" y="60948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Contexto nacional da doação de sangue animal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CaixaDeTexto 6"/>
          <p:cNvSpPr/>
          <p:nvPr/>
        </p:nvSpPr>
        <p:spPr>
          <a:xfrm>
            <a:off x="1067040" y="388476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CaixaDeTexto 7"/>
          <p:cNvSpPr/>
          <p:nvPr/>
        </p:nvSpPr>
        <p:spPr>
          <a:xfrm>
            <a:off x="1063080" y="331164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aixaDeTexto 11"/>
          <p:cNvSpPr/>
          <p:nvPr/>
        </p:nvSpPr>
        <p:spPr>
          <a:xfrm>
            <a:off x="1008000" y="4606200"/>
            <a:ext cx="32662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Imagem 1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820520" y="5507280"/>
            <a:ext cx="1614600" cy="1232280"/>
          </a:xfrm>
          <a:prstGeom prst="rect">
            <a:avLst/>
          </a:prstGeom>
          <a:ln w="19080">
            <a:noFill/>
          </a:ln>
        </p:spPr>
      </p:pic>
      <p:sp>
        <p:nvSpPr>
          <p:cNvPr id="268" name="CaixaDeTexto 267"/>
          <p:cNvSpPr txBox="1"/>
          <p:nvPr/>
        </p:nvSpPr>
        <p:spPr>
          <a:xfrm>
            <a:off x="720000" y="1980000"/>
            <a:ext cx="10080000" cy="39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O Brasil não possui um censo oficial sobre bancos de sangue veterinários.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As informações disponíveis são fragmentadas por estado e instituição.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O CRMV-SP cita a existência de pelo menos 6 hemocentros veterinários no estado de São Paulo.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Redes privadas, como a Vetex, mantêm bancos de sangue em diversas capitais (SP, SC, PR, RS, CE).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Há ainda hemocentros em clínicas especializadas (Hemovet, Pets&amp;Life, Vet Fácil, Sanimvet) e em hospitais universitários (USP, UFU, etc.).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A estimativa realista indica a existência de dezenas de unidades no país, sem consolidação nacional.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Imagem 6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801800" y="5526000"/>
            <a:ext cx="1614600" cy="1232280"/>
          </a:xfrm>
          <a:prstGeom prst="rect">
            <a:avLst/>
          </a:prstGeom>
          <a:ln w="19080">
            <a:noFill/>
          </a:ln>
        </p:spPr>
      </p:pic>
      <p:sp>
        <p:nvSpPr>
          <p:cNvPr id="270" name="PlaceHolder 26"/>
          <p:cNvSpPr txBox="1"/>
          <p:nvPr/>
        </p:nvSpPr>
        <p:spPr>
          <a:xfrm>
            <a:off x="678240" y="60948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População de Animais (Blumenau e Gaspar)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aixaDeTexto 270"/>
          <p:cNvSpPr txBox="1"/>
          <p:nvPr/>
        </p:nvSpPr>
        <p:spPr>
          <a:xfrm>
            <a:off x="720000" y="1980000"/>
            <a:ext cx="10080000" cy="4185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Blumenau (SC)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Estimativa do Observatório Sebrae/SC: cerca de 178.268 animais domésticos.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Dentre esses, aproximadamente 98.159 cães e 67.368 gatos.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O município iniciou, em 2025, um Censo Pet para atualizar e detalhar esses dados.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Gaspar (SC)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Em 2025, o município iniciou o Primeiro Censo Animal, com foco em cães e gatos.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Até o momento, não há número total consolidado publicado.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Fontes: Observatório Sebrae/SC, Prefeitura de Blumenau (Censo Pet), Prefeitura de Gaspar (Primeiro Censo Animal).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Imagem 20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801800" y="5526000"/>
            <a:ext cx="1614600" cy="1232280"/>
          </a:xfrm>
          <a:prstGeom prst="rect">
            <a:avLst/>
          </a:prstGeom>
          <a:ln w="19080">
            <a:noFill/>
          </a:ln>
        </p:spPr>
      </p:pic>
      <p:sp>
        <p:nvSpPr>
          <p:cNvPr id="273" name="PlaceHolder 27"/>
          <p:cNvSpPr txBox="1"/>
          <p:nvPr/>
        </p:nvSpPr>
        <p:spPr>
          <a:xfrm>
            <a:off x="678240" y="609480"/>
            <a:ext cx="8596440" cy="101052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 fontScale="91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Exemplos de softwares de gestão para clínicas veterinárias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aixaDeTexto 273"/>
          <p:cNvSpPr txBox="1"/>
          <p:nvPr/>
        </p:nvSpPr>
        <p:spPr>
          <a:xfrm>
            <a:off x="720000" y="1980000"/>
            <a:ext cx="10080000" cy="4441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SimplesVet = Sistema de gestão para clínicas e pet shops.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Funcionalidades: agenda, prontuário, financeiro, estoque.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Vetwork = Plataforma para clínicas veterinárias e pet shops.</a:t>
            </a: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Foco em atendimento, serviços e controle de estoque.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Peti9 = Declara possuir mais de 12.000 usuários ativos em 26 estados brasileiros.</a:t>
            </a: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Solução completa de gestão para clínicas e pet shops.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LoopVet = informa ter mais de 2.000 usuários ativos em mais de 500 cidades no Brasil.</a:t>
            </a: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Sistema com agenda, prontuário e módulo financeiro.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Vetus =Plataforma de gestão para clínicas, hospitais veterinários e pet shops.</a:t>
            </a: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Abrange prontuário, atendimento, estoque e financeiro.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1"/>
          <p:cNvSpPr txBox="1"/>
          <p:nvPr/>
        </p:nvSpPr>
        <p:spPr>
          <a:xfrm>
            <a:off x="677520" y="60948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Processo de Doação de Sangue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12"/>
          <p:cNvSpPr txBox="1"/>
          <p:nvPr/>
        </p:nvSpPr>
        <p:spPr>
          <a:xfrm>
            <a:off x="565920" y="1711080"/>
            <a:ext cx="4185360" cy="5760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2A5010"/>
                </a:solidFill>
                <a:latin typeface="Trebuchet MS"/>
              </a:rPr>
              <a:t>Etapas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Gráfico 1" descr="Área de Transferência"/>
          <p:cNvPicPr/>
          <p:nvPr/>
        </p:nvPicPr>
        <p:blipFill>
          <a:blip r:embed="rId2"/>
          <a:stretch/>
        </p:blipFill>
        <p:spPr>
          <a:xfrm>
            <a:off x="567720" y="2518920"/>
            <a:ext cx="445680" cy="436680"/>
          </a:xfrm>
          <a:prstGeom prst="rect">
            <a:avLst/>
          </a:prstGeom>
          <a:ln w="0">
            <a:noFill/>
          </a:ln>
        </p:spPr>
      </p:pic>
      <p:pic>
        <p:nvPicPr>
          <p:cNvPr id="289" name="Gráfico 2" descr="Lista de verificação DPE"/>
          <p:cNvPicPr/>
          <p:nvPr/>
        </p:nvPicPr>
        <p:blipFill>
          <a:blip r:embed="rId3"/>
          <a:stretch/>
        </p:blipFill>
        <p:spPr>
          <a:xfrm>
            <a:off x="564480" y="3225600"/>
            <a:ext cx="436680" cy="445680"/>
          </a:xfrm>
          <a:prstGeom prst="rect">
            <a:avLst/>
          </a:prstGeom>
          <a:ln w="0">
            <a:noFill/>
          </a:ln>
        </p:spPr>
      </p:pic>
      <p:sp>
        <p:nvSpPr>
          <p:cNvPr id="290" name="CaixaDeTexto 1"/>
          <p:cNvSpPr/>
          <p:nvPr/>
        </p:nvSpPr>
        <p:spPr>
          <a:xfrm>
            <a:off x="1006560" y="259452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Cadastrar o animal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aixaDeTexto 2"/>
          <p:cNvSpPr/>
          <p:nvPr/>
        </p:nvSpPr>
        <p:spPr>
          <a:xfrm>
            <a:off x="1066680" y="388476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Coletar o sangue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aixaDeTexto 3"/>
          <p:cNvSpPr/>
          <p:nvPr/>
        </p:nvSpPr>
        <p:spPr>
          <a:xfrm>
            <a:off x="1062720" y="331164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Verificar os requisitos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3" name="Gráfico 3" descr="Intravenoso"/>
          <p:cNvPicPr/>
          <p:nvPr/>
        </p:nvPicPr>
        <p:blipFill>
          <a:blip r:embed="rId4"/>
          <a:stretch/>
        </p:blipFill>
        <p:spPr>
          <a:xfrm>
            <a:off x="562320" y="3789000"/>
            <a:ext cx="436680" cy="510120"/>
          </a:xfrm>
          <a:prstGeom prst="rect">
            <a:avLst/>
          </a:prstGeom>
          <a:ln w="19080">
            <a:noFill/>
          </a:ln>
        </p:spPr>
      </p:pic>
      <p:pic>
        <p:nvPicPr>
          <p:cNvPr id="294" name="Gráfico 4" descr="Termômetro"/>
          <p:cNvPicPr/>
          <p:nvPr/>
        </p:nvPicPr>
        <p:blipFill>
          <a:blip r:embed="rId5"/>
          <a:stretch/>
        </p:blipFill>
        <p:spPr>
          <a:xfrm>
            <a:off x="562320" y="4495680"/>
            <a:ext cx="500760" cy="482400"/>
          </a:xfrm>
          <a:prstGeom prst="rect">
            <a:avLst/>
          </a:prstGeom>
          <a:ln w="19080">
            <a:noFill/>
          </a:ln>
        </p:spPr>
      </p:pic>
      <p:sp>
        <p:nvSpPr>
          <p:cNvPr id="295" name="CaixaDeTexto 4"/>
          <p:cNvSpPr/>
          <p:nvPr/>
        </p:nvSpPr>
        <p:spPr>
          <a:xfrm>
            <a:off x="1007640" y="4606200"/>
            <a:ext cx="32662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Armazenar bolsa de sangue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6" name="Imagem 10" descr="Uma imagem contendo relógio, preto, desenho, jogador&#10;&#10;Descrição gerada com muito alta confiança"/>
          <p:cNvPicPr/>
          <p:nvPr/>
        </p:nvPicPr>
        <p:blipFill>
          <a:blip r:embed="rId6"/>
          <a:stretch/>
        </p:blipFill>
        <p:spPr>
          <a:xfrm>
            <a:off x="10820160" y="550728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3"/>
          <p:cNvSpPr txBox="1"/>
          <p:nvPr/>
        </p:nvSpPr>
        <p:spPr>
          <a:xfrm>
            <a:off x="677520" y="62460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Processo de Doação de Sangue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14"/>
          <p:cNvSpPr txBox="1"/>
          <p:nvPr/>
        </p:nvSpPr>
        <p:spPr>
          <a:xfrm>
            <a:off x="565920" y="1726200"/>
            <a:ext cx="4185360" cy="5760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2A5010"/>
                </a:solidFill>
                <a:latin typeface="Trebuchet MS"/>
              </a:rPr>
              <a:t>Etapas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Gráfico 7" descr="Área de Transferência"/>
          <p:cNvPicPr/>
          <p:nvPr/>
        </p:nvPicPr>
        <p:blipFill>
          <a:blip r:embed="rId2"/>
          <a:stretch/>
        </p:blipFill>
        <p:spPr>
          <a:xfrm>
            <a:off x="567720" y="2534040"/>
            <a:ext cx="445680" cy="436680"/>
          </a:xfrm>
          <a:prstGeom prst="rect">
            <a:avLst/>
          </a:prstGeom>
          <a:ln w="0">
            <a:noFill/>
          </a:ln>
        </p:spPr>
      </p:pic>
      <p:sp>
        <p:nvSpPr>
          <p:cNvPr id="300" name="CaixaDeTexto 8"/>
          <p:cNvSpPr/>
          <p:nvPr/>
        </p:nvSpPr>
        <p:spPr>
          <a:xfrm>
            <a:off x="1006560" y="260964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Cadastro o animal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Espaço Reservado para Conteúdo 1"/>
          <p:cNvSpPr/>
          <p:nvPr/>
        </p:nvSpPr>
        <p:spPr>
          <a:xfrm>
            <a:off x="1421280" y="3084480"/>
            <a:ext cx="6267600" cy="365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 Nome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 Data Nascimento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 Peso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 Sexo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 Espécie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 Tipo sanguíneo</a:t>
            </a:r>
            <a:r>
              <a:rPr lang="pt-BR" sz="24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 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2" name="Imagem 11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92800" y="558684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5"/>
          <p:cNvSpPr txBox="1"/>
          <p:nvPr/>
        </p:nvSpPr>
        <p:spPr>
          <a:xfrm>
            <a:off x="677520" y="60948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Processo de Doação de Sangue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16"/>
          <p:cNvSpPr txBox="1"/>
          <p:nvPr/>
        </p:nvSpPr>
        <p:spPr>
          <a:xfrm>
            <a:off x="565920" y="1711080"/>
            <a:ext cx="4185360" cy="5760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2A5010"/>
                </a:solidFill>
                <a:latin typeface="Trebuchet MS"/>
              </a:rPr>
              <a:t>Etapas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Gráfico 12" descr="Lista de verificação DPE"/>
          <p:cNvPicPr/>
          <p:nvPr/>
        </p:nvPicPr>
        <p:blipFill>
          <a:blip r:embed="rId2"/>
          <a:stretch/>
        </p:blipFill>
        <p:spPr>
          <a:xfrm>
            <a:off x="592200" y="2436120"/>
            <a:ext cx="436680" cy="445680"/>
          </a:xfrm>
          <a:prstGeom prst="rect">
            <a:avLst/>
          </a:prstGeom>
          <a:ln w="0">
            <a:noFill/>
          </a:ln>
        </p:spPr>
      </p:pic>
      <p:sp>
        <p:nvSpPr>
          <p:cNvPr id="306" name="CaixaDeTexto 10"/>
          <p:cNvSpPr/>
          <p:nvPr/>
        </p:nvSpPr>
        <p:spPr>
          <a:xfrm>
            <a:off x="1035360" y="252216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Requisitos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Espaço Reservado para Conteúdo 3"/>
          <p:cNvSpPr/>
          <p:nvPr/>
        </p:nvSpPr>
        <p:spPr>
          <a:xfrm>
            <a:off x="1421280" y="3069360"/>
            <a:ext cx="6267600" cy="365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 Peso</a:t>
            </a:r>
            <a:r>
              <a:rPr lang="pt-BR" sz="1800" b="0" strike="noStrike" spc="-1">
                <a:solidFill>
                  <a:srgbClr val="404040"/>
                </a:solidFill>
                <a:latin typeface="Trebuchet MS"/>
                <a:ea typeface="Trebuchet MS"/>
              </a:rPr>
              <a:t> 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  <a:ea typeface="Trebuchet MS"/>
              </a:rPr>
              <a:t> Idade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  <a:ea typeface="Trebuchet MS"/>
              </a:rPr>
              <a:t> Vacina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  <a:ea typeface="Trebuchet MS"/>
              </a:rPr>
              <a:t> Exame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  <a:ea typeface="Trebuchet MS"/>
              </a:rPr>
              <a:t> Comportamento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8" name="Imagem 12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83440" y="554400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7"/>
          <p:cNvSpPr txBox="1"/>
          <p:nvPr/>
        </p:nvSpPr>
        <p:spPr>
          <a:xfrm>
            <a:off x="677160" y="60984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Processo de Doação de Sangue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18"/>
          <p:cNvSpPr txBox="1"/>
          <p:nvPr/>
        </p:nvSpPr>
        <p:spPr>
          <a:xfrm>
            <a:off x="565560" y="1711440"/>
            <a:ext cx="4185360" cy="5760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2A5010"/>
                </a:solidFill>
                <a:latin typeface="Trebuchet MS"/>
              </a:rPr>
              <a:t>Etapas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aixaDeTexto 9"/>
          <p:cNvSpPr/>
          <p:nvPr/>
        </p:nvSpPr>
        <p:spPr>
          <a:xfrm>
            <a:off x="1011240" y="271944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Coleta do sangue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Gráfico 16" descr="Intravenoso"/>
          <p:cNvPicPr/>
          <p:nvPr/>
        </p:nvPicPr>
        <p:blipFill>
          <a:blip r:embed="rId2"/>
          <a:stretch/>
        </p:blipFill>
        <p:spPr>
          <a:xfrm>
            <a:off x="488520" y="2540520"/>
            <a:ext cx="436680" cy="510120"/>
          </a:xfrm>
          <a:prstGeom prst="rect">
            <a:avLst/>
          </a:prstGeom>
          <a:ln w="19080">
            <a:noFill/>
          </a:ln>
        </p:spPr>
      </p:pic>
      <p:sp>
        <p:nvSpPr>
          <p:cNvPr id="313" name="Espaço Reservado para Conteúdo 4"/>
          <p:cNvSpPr/>
          <p:nvPr/>
        </p:nvSpPr>
        <p:spPr>
          <a:xfrm>
            <a:off x="1411920" y="3290040"/>
            <a:ext cx="6267600" cy="29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Indolor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pc="-1" dirty="0">
                <a:solidFill>
                  <a:srgbClr val="404040"/>
                </a:solidFill>
                <a:latin typeface="Trebuchet MS"/>
              </a:rPr>
              <a:t>Rápido</a:t>
            </a:r>
            <a:endParaRPr lang="pt-BR" sz="1800" b="0" strike="noStrike" spc="-1" dirty="0">
              <a:solidFill>
                <a:srgbClr val="404040"/>
              </a:solidFill>
              <a:latin typeface="Trebuchet MS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Com sedativo</a:t>
            </a:r>
            <a:endParaRPr lang="pt-BR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endParaRPr lang="pt-BR" sz="1800" b="0" strike="noStrike" spc="-1" dirty="0">
              <a:solidFill>
                <a:srgbClr val="404040"/>
              </a:solidFill>
              <a:latin typeface="Trebuchet MS"/>
            </a:endParaRPr>
          </a:p>
        </p:txBody>
      </p:sp>
      <p:pic>
        <p:nvPicPr>
          <p:cNvPr id="314" name="Imagem 14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74080" y="552600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9"/>
          <p:cNvSpPr txBox="1"/>
          <p:nvPr/>
        </p:nvSpPr>
        <p:spPr>
          <a:xfrm>
            <a:off x="677160" y="60984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Processo de Doação de Sangue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20"/>
          <p:cNvSpPr txBox="1"/>
          <p:nvPr/>
        </p:nvSpPr>
        <p:spPr>
          <a:xfrm>
            <a:off x="565560" y="1711440"/>
            <a:ext cx="4185360" cy="5760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2A5010"/>
                </a:solidFill>
                <a:latin typeface="Trebuchet MS"/>
              </a:rPr>
              <a:t>Etapas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7" name="Gráfico 18" descr="Termômetro"/>
          <p:cNvPicPr/>
          <p:nvPr/>
        </p:nvPicPr>
        <p:blipFill>
          <a:blip r:embed="rId2"/>
          <a:stretch/>
        </p:blipFill>
        <p:spPr>
          <a:xfrm>
            <a:off x="470160" y="2586600"/>
            <a:ext cx="500760" cy="482400"/>
          </a:xfrm>
          <a:prstGeom prst="rect">
            <a:avLst/>
          </a:prstGeom>
          <a:ln w="19080">
            <a:noFill/>
          </a:ln>
        </p:spPr>
      </p:pic>
      <p:sp>
        <p:nvSpPr>
          <p:cNvPr id="318" name="CaixaDeTexto 20"/>
          <p:cNvSpPr/>
          <p:nvPr/>
        </p:nvSpPr>
        <p:spPr>
          <a:xfrm>
            <a:off x="1090080" y="2697120"/>
            <a:ext cx="44780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Armazenamento da bolsa de sangue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Espaço Reservado para Conteúdo 2"/>
          <p:cNvSpPr/>
          <p:nvPr/>
        </p:nvSpPr>
        <p:spPr>
          <a:xfrm>
            <a:off x="1411920" y="3290040"/>
            <a:ext cx="6267600" cy="29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 Temperatura de 1 a 8ºC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 Validade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 Identificação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0" name="Imagem 16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92440" y="552600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21"/>
          <p:cNvSpPr txBox="1"/>
          <p:nvPr/>
        </p:nvSpPr>
        <p:spPr>
          <a:xfrm>
            <a:off x="456840" y="66492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Objetivos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2"/>
          <p:cNvSpPr txBox="1"/>
          <p:nvPr/>
        </p:nvSpPr>
        <p:spPr>
          <a:xfrm>
            <a:off x="456840" y="1536840"/>
            <a:ext cx="7020360" cy="44679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Validar o cadastro do animal pelo CPF do tutor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Cadastrar todos os exames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Cadastrar todas as vacinas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Validar os pré-requisitos para doação de sangue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>
              <a:lnSpc>
                <a:spcPct val="2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 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3" name="Imagem 18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774080" y="551700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23"/>
          <p:cNvSpPr txBox="1"/>
          <p:nvPr/>
        </p:nvSpPr>
        <p:spPr>
          <a:xfrm>
            <a:off x="457200" y="66492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Objetivos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24"/>
          <p:cNvSpPr txBox="1"/>
          <p:nvPr/>
        </p:nvSpPr>
        <p:spPr>
          <a:xfrm>
            <a:off x="457200" y="1536840"/>
            <a:ext cx="8590320" cy="44679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Controlar o vencimento das bolsas de sangue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Controlar por tipo sanguineo a quantidade em estoque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Identificar um possível doador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 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6" name="Imagem 19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783440" y="554436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337680" y="250200"/>
            <a:ext cx="5424120" cy="64476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Diagrama de Caso de Uso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8" name="Imagem 17" descr="Uma imagem contendo texto, mapa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2695320" y="1384920"/>
            <a:ext cx="4422960" cy="4766760"/>
          </a:xfrm>
          <a:prstGeom prst="rect">
            <a:avLst/>
          </a:prstGeom>
          <a:ln w="19080">
            <a:noFill/>
          </a:ln>
        </p:spPr>
      </p:pic>
      <p:pic>
        <p:nvPicPr>
          <p:cNvPr id="329" name="Imagem 4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819800" y="548892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337680" y="250200"/>
            <a:ext cx="5424120" cy="64476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Diagrama de Classe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1" name="Imagem 15" descr="Uma imagem contendo texto, mapa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189080" y="1274760"/>
            <a:ext cx="7680600" cy="5126400"/>
          </a:xfrm>
          <a:prstGeom prst="rect">
            <a:avLst/>
          </a:prstGeom>
          <a:ln w="0">
            <a:noFill/>
          </a:ln>
        </p:spPr>
      </p:pic>
      <p:pic>
        <p:nvPicPr>
          <p:cNvPr id="332" name="Imagem 4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74080" y="551664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337680" y="250200"/>
            <a:ext cx="5424120" cy="64476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Diagrama de Classe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Imagem 5" descr="Uma imagem contendo texto, mapa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831240" y="1265040"/>
            <a:ext cx="8203680" cy="4714200"/>
          </a:xfrm>
          <a:prstGeom prst="rect">
            <a:avLst/>
          </a:prstGeom>
          <a:ln w="0">
            <a:noFill/>
          </a:ln>
        </p:spPr>
      </p:pic>
      <p:pic>
        <p:nvPicPr>
          <p:cNvPr id="335" name="Imagem 4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847520" y="554400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Imagem 3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801800" y="5526000"/>
            <a:ext cx="1614600" cy="1232280"/>
          </a:xfrm>
          <a:prstGeom prst="rect">
            <a:avLst/>
          </a:prstGeom>
          <a:ln w="19080">
            <a:noFill/>
          </a:ln>
        </p:spPr>
      </p:pic>
      <p:sp>
        <p:nvSpPr>
          <p:cNvPr id="337" name="PlaceHolder 5"/>
          <p:cNvSpPr txBox="1"/>
          <p:nvPr/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 anchorCtr="1">
            <a:normAutofit fontScale="78500" lnSpcReduction="10000"/>
          </a:bodyPr>
          <a:lstStyle/>
          <a:p>
            <a:pPr>
              <a:lnSpc>
                <a:spcPct val="100000"/>
              </a:lnSpc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Obrigado!</a:t>
            </a:r>
          </a:p>
        </p:txBody>
      </p:sp>
      <p:sp>
        <p:nvSpPr>
          <p:cNvPr id="338" name="PlaceHolder 6"/>
          <p:cNvSpPr txBox="1"/>
          <p:nvPr/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Contato: petsis@gmail.com</a:t>
            </a:r>
          </a:p>
          <a:p>
            <a:pPr>
              <a:lnSpc>
                <a:spcPct val="100000"/>
              </a:lnSpc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itle 4"/>
          <p:cNvSpPr/>
          <p:nvPr/>
        </p:nvSpPr>
        <p:spPr>
          <a:xfrm>
            <a:off x="1259280" y="1229400"/>
            <a:ext cx="7766640" cy="173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 anchorCtr="1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strike="noStrike" spc="-1">
                <a:solidFill>
                  <a:srgbClr val="2A5010"/>
                </a:solidFill>
                <a:latin typeface="Trebuchet MS"/>
                <a:ea typeface="Trebuchet MS"/>
              </a:rPr>
              <a:t>"Ser doador é poder amar,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0" strike="noStrike" spc="-1">
                <a:solidFill>
                  <a:srgbClr val="2A5010"/>
                </a:solidFill>
                <a:latin typeface="Trebuchet MS"/>
                <a:ea typeface="Trebuchet MS"/>
              </a:rPr>
              <a:t>mesmo sem conhecer!"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itle 5"/>
          <p:cNvSpPr/>
          <p:nvPr/>
        </p:nvSpPr>
        <p:spPr>
          <a:xfrm>
            <a:off x="3233160" y="2679840"/>
            <a:ext cx="7656480" cy="66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 anchorCtr="1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2A5010"/>
                </a:solidFill>
                <a:latin typeface="Trebuchet MS"/>
              </a:rPr>
              <a:t>Autor Desconhecido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574</Words>
  <Application>Microsoft Office PowerPoint</Application>
  <PresentationFormat>Widescreen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6</vt:i4>
      </vt:variant>
      <vt:variant>
        <vt:lpstr>Títulos de slides</vt:lpstr>
      </vt:variant>
      <vt:variant>
        <vt:i4>17</vt:i4>
      </vt:variant>
    </vt:vector>
  </HeadingPairs>
  <TitlesOfParts>
    <vt:vector size="29" baseType="lpstr">
      <vt:lpstr>Arial</vt:lpstr>
      <vt:lpstr>Symbol</vt:lpstr>
      <vt:lpstr>Times New Roman</vt:lpstr>
      <vt:lpstr>Trebuchet MS</vt:lpstr>
      <vt:lpstr>Wingdings</vt:lpstr>
      <vt:lpstr>Wingdings;Sans-Serif</vt:lpstr>
      <vt:lpstr>Office Theme</vt:lpstr>
      <vt:lpstr>Office Theme</vt:lpstr>
      <vt:lpstr>Office Theme</vt:lpstr>
      <vt:lpstr>Office Theme</vt:lpstr>
      <vt:lpstr>Office Theme</vt:lpstr>
      <vt:lpstr>Office Theme</vt:lpstr>
      <vt:lpstr>SISTEMA PARA CONTROLE DE DOAÇÃO DE SANGUE ANIMAL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Diagrama de Caso de Uso</vt:lpstr>
      <vt:lpstr>Diagrama de Classe</vt:lpstr>
      <vt:lpstr>Diagrama de Classe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dc:description/>
  <cp:lastModifiedBy>Francielle DataSig</cp:lastModifiedBy>
  <cp:revision>443</cp:revision>
  <dcterms:created xsi:type="dcterms:W3CDTF">2019-11-18T16:50:54Z</dcterms:created>
  <dcterms:modified xsi:type="dcterms:W3CDTF">2025-12-03T19:34:01Z</dcterms:modified>
  <dc:language>pt-BR</dc:language>
</cp:coreProperties>
</file>